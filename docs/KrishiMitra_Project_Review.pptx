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100" b="1" i="0">
                <a:solidFill>
                  <a:srgbClr val="6ECF94"/>
                </a:solidFill>
                <a:latin typeface="Helvetica Neue"/>
              </a:rPr>
              <a:t>MINOR PROJECT  ·  PROGRESS REVIEW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0" b="1" i="0">
                <a:solidFill>
                  <a:srgbClr val="ECF4F1"/>
                </a:solidFill>
                <a:latin typeface="Helvetica Neue"/>
              </a:rPr>
              <a:t>KrishiMitra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300" b="0" i="0">
                <a:solidFill>
                  <a:srgbClr val="6ECF94"/>
                </a:solidFill>
                <a:latin typeface="Helvetica Neue"/>
              </a:rPr>
              <a:t>AI-Based Crop Recommendation for Indian Farmers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93ACA9"/>
                </a:solidFill>
                <a:latin typeface="Helvetica Neue"/>
              </a:rPr>
              <a:t>Not “what can grow here?” but “what is worth growing, and why?”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ECF4F1"/>
                </a:solidFill>
                <a:latin typeface="Helvetica Neue"/>
              </a:rPr>
              <a:t>246,091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B78"/>
                </a:solidFill>
                <a:latin typeface="Helvetica Neue"/>
              </a:rPr>
              <a:t>official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502920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ECF4F1"/>
                </a:solidFill>
                <a:latin typeface="Helvetica Neue"/>
              </a:rPr>
              <a:t>36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B78"/>
                </a:solidFill>
                <a:latin typeface="Helvetica Neue"/>
              </a:rPr>
              <a:t>states &amp; 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502920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ECF4F1"/>
                </a:solidFill>
                <a:latin typeface="Helvetica Neue"/>
              </a:rPr>
              <a:t>22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B78"/>
                </a:solidFill>
                <a:latin typeface="Helvetica Neue"/>
              </a:rPr>
              <a:t>crops ranked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502920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ECF4F1"/>
                </a:solidFill>
                <a:latin typeface="Helvetica Neue"/>
              </a:rPr>
              <a:t>99.5%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B78"/>
                </a:solidFill>
                <a:latin typeface="Helvetica Neue"/>
              </a:rPr>
              <a:t>model CV accuracy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10712"/>
            <a:ext cx="502920" cy="3810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6ECF94"/>
                </a:solidFill>
                <a:latin typeface="Helvetica Neue"/>
              </a:rPr>
              <a:t>PART ONE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ECF4F1"/>
                </a:solidFill>
                <a:latin typeface="Helvetica Neue"/>
              </a:rPr>
              <a:t>Motivation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Why crop choice is the highest-stakes decision in Indian agriculture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The Human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Around 46% of India's workforce depends on agriculture, on an average holding of about 1.08 hectares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5227167" cy="157276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56816"/>
            <a:ext cx="38100" cy="1572768"/>
          </a:xfrm>
          <a:prstGeom prst="rect">
            <a:avLst/>
          </a:prstGeom>
          <a:solidFill>
            <a:srgbClr val="D16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176272"/>
            <a:ext cx="46785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D1685C"/>
                </a:solidFill>
                <a:latin typeface="Helvetica Neue"/>
              </a:rPr>
              <a:t>Income, not yield, is the crisis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A farmer can raise yield and still lose money. Choosing the wrong crop for the soil, the rainfall and the market is the difference between a season that pays and one that adds to debt.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956816"/>
            <a:ext cx="5227167" cy="157276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956816"/>
            <a:ext cx="38100" cy="1572768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5615" y="2176272"/>
            <a:ext cx="46785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0A458"/>
                </a:solidFill>
                <a:latin typeface="Helvetica Neue"/>
              </a:rPr>
              <a:t>The decision is made blind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Crop choice is largely habit, or copying a neighbour. Soil Health Cards exist, but arrive as a twelve-parameter lab report with no action attached to the numbers.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85616"/>
            <a:ext cx="5227167" cy="157276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85616"/>
            <a:ext cx="38100" cy="1572768"/>
          </a:xfrm>
          <a:prstGeom prst="rect">
            <a:avLst/>
          </a:prstGeom>
          <a:solidFill>
            <a:srgbClr val="5B8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005072"/>
            <a:ext cx="46785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B8AB0"/>
                </a:solidFill>
                <a:latin typeface="Helvetica Neue"/>
              </a:rPr>
              <a:t>Advice answers the wrong question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Existing tools predict what can grow. A farmer already knows rice grows in his village. He needs to know what is worth growing this year, on his land, at his scale.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3785616"/>
            <a:ext cx="5227167" cy="157276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7" y="3785616"/>
            <a:ext cx="38100" cy="1572768"/>
          </a:xfrm>
          <a:prstGeom prst="rect">
            <a:avLst/>
          </a:prstGeom>
          <a:solidFill>
            <a:srgbClr val="9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5615" y="4005072"/>
            <a:ext cx="46785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9B7CC4"/>
                </a:solidFill>
                <a:latin typeface="Helvetica Neue"/>
              </a:rPr>
              <a:t>Support goes unclaimed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Insurance, credit, irrigation subsidy and solar pumps all exist. The eligibility rules sit in PDFs across a dozen portals, in English, behind logins.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What Changes for the Farmer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A concrete example: two hectares in Maharashtra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5227167" cy="32004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 w="13970">
            <a:solidFill>
              <a:srgbClr val="D16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94560"/>
            <a:ext cx="466023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100" b="1" i="0">
                <a:solidFill>
                  <a:srgbClr val="D1685C"/>
                </a:solidFill>
                <a:latin typeface="Helvetica Neue"/>
              </a:rPr>
              <a:t>TODAY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93ACA9"/>
                </a:solidFill>
                <a:latin typeface="Helvetica Neue"/>
              </a:rPr>
              <a:t>—   Plants what he planted last year, or what the
neighbouring field is planting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93ACA9"/>
                </a:solidFill>
                <a:latin typeface="Helvetica Neue"/>
              </a:rPr>
              <a:t>—   No idea what the soil is short of, so fertiliser is
applied by habit and often wasted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93ACA9"/>
                </a:solidFill>
                <a:latin typeface="Helvetica Neue"/>
              </a:rPr>
              <a:t>—   Discovers the price only at the mandi, after harvest,
when he has no choice but to sell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93ACA9"/>
                </a:solidFill>
                <a:latin typeface="Helvetica Neue"/>
              </a:rPr>
              <a:t>—   Learns about a subsidy after the application window
has closed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93ACA9"/>
                </a:solidFill>
                <a:latin typeface="Helvetica Neue"/>
              </a:rPr>
              <a:t>—   Carries all the weather risk himself, uninsured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956816"/>
            <a:ext cx="5227167" cy="32004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 w="13970">
            <a:solidFill>
              <a:srgbClr val="4C9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5615" y="2194560"/>
            <a:ext cx="466023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100" b="1" i="0">
                <a:solidFill>
                  <a:srgbClr val="6ECF94"/>
                </a:solidFill>
                <a:latin typeface="Helvetica Neue"/>
              </a:rPr>
              <a:t>WITH KRISHIMITRA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ECF4F1"/>
                </a:solidFill>
                <a:latin typeface="Helvetica Neue"/>
              </a:rPr>
              <a:t>✓   Six crops ranked for his district, each with the net
return per hectare at his farm size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ECF4F1"/>
                </a:solidFill>
                <a:latin typeface="Helvetica Neue"/>
              </a:rPr>
              <a:t>✓   The exact nutrient gap, converted into bags of urea,
DAP and MOP with a rupee cost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ECF4F1"/>
                </a:solidFill>
                <a:latin typeface="Helvetica Neue"/>
              </a:rPr>
              <a:t>✓   Irrigation need in millimetres beyond local rainfall,
before committing to the crop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ECF4F1"/>
                </a:solidFill>
                <a:latin typeface="Helvetica Neue"/>
              </a:rPr>
              <a:t>✓   Which schemes apply to that specific crop and
holding, answered in his own language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ECF4F1"/>
                </a:solidFill>
                <a:latin typeface="Helvetica Neue"/>
              </a:rPr>
              <a:t>✓   Every number shown with its source and confidence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85816"/>
            <a:ext cx="10728655" cy="841248"/>
          </a:xfrm>
          <a:prstGeom prst="roundRect">
            <a:avLst>
              <a:gd name="adj" fmla="val 4500"/>
            </a:avLst>
          </a:prstGeom>
          <a:solidFill>
            <a:srgbClr val="1B333A"/>
          </a:solidFill>
          <a:ln w="13970">
            <a:solidFill>
              <a:srgbClr val="4C9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68696"/>
            <a:ext cx="99971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CF4F1"/>
                </a:solidFill>
                <a:latin typeface="Helvetica Neue"/>
              </a:rPr>
              <a:t>The system never tells a farmer to trust it. It shows the ideal range for every condition, the source of every figure, and how confident it is — so the advice can be checked by an extension officer before it is acted 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10712"/>
            <a:ext cx="502920" cy="3810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6ECF94"/>
                </a:solidFill>
                <a:latin typeface="Helvetica Neue"/>
              </a:rPr>
              <a:t>PART TWO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ECF4F1"/>
                </a:solidFill>
                <a:latin typeface="Helvetica Neue"/>
              </a:rPr>
              <a:t>The System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Architecture, data foundation, and the four signals behind every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Turn a crop classifier into an advisor a farmer could actually act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2517571" cy="288036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194560"/>
            <a:ext cx="2060371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600" b="1" i="0">
                <a:solidFill>
                  <a:srgbClr val="6ECF94"/>
                </a:solidFill>
                <a:latin typeface="Helvetica Neue"/>
              </a:rPr>
              <a:t>01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ECF4F1"/>
                </a:solidFill>
                <a:latin typeface="Helvetica Neue"/>
              </a:rPr>
              <a:t>Pick a region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A 3D globe opens onto a map of India. Click any state to load its soil profile, climate normals and real cropping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8547" y="1956816"/>
            <a:ext cx="2517571" cy="288036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6291" y="2194560"/>
            <a:ext cx="2060371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600" b="1" i="0">
                <a:solidFill>
                  <a:srgbClr val="5B8AB0"/>
                </a:solidFill>
                <a:latin typeface="Helvetica Neue"/>
              </a:rPr>
              <a:t>02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ECF4F1"/>
                </a:solidFill>
                <a:latin typeface="Helvetica Neue"/>
              </a:rPr>
              <a:t>Rank the crops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Four signals combined: can it grow, is it grown here, what does it earn, and can the farmer water and afford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5575" y="1956816"/>
            <a:ext cx="2517571" cy="288036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3319" y="2194560"/>
            <a:ext cx="2060371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600" b="1" i="0">
                <a:solidFill>
                  <a:srgbClr val="E0A458"/>
                </a:solidFill>
                <a:latin typeface="Helvetica Neue"/>
              </a:rPr>
              <a:t>03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ECF4F1"/>
                </a:solidFill>
                <a:latin typeface="Helvetica Neue"/>
              </a:rPr>
              <a:t>Explain the answer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Every condition compared against the crop's ideal band, with the fertiliser gap costed in bags and rupees.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2603" y="1956816"/>
            <a:ext cx="2517571" cy="288036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0347" y="2194560"/>
            <a:ext cx="2060371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600" b="1" i="0">
                <a:solidFill>
                  <a:srgbClr val="9B7CC4"/>
                </a:solidFill>
                <a:latin typeface="Helvetica Neue"/>
              </a:rPr>
              <a:t>04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ECF4F1"/>
                </a:solidFill>
                <a:latin typeface="Helvetica Neue"/>
              </a:rPr>
              <a:t>Answer the follow-up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A grounded chatbot for the government schemes that apply to that crop and that holding.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78638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9264" y="1874520"/>
            <a:ext cx="1051560" cy="329184"/>
          </a:xfrm>
          <a:prstGeom prst="roundRect">
            <a:avLst>
              <a:gd name="adj" fmla="val 45000"/>
            </a:avLst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950" b="1">
                <a:solidFill>
                  <a:srgbClr val="0A1216"/>
                </a:solidFill>
                <a:latin typeface="Helvetica Neue"/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764792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CF4F1"/>
                </a:solidFill>
                <a:latin typeface="Helvetica Neue"/>
              </a:rPr>
              <a:t>React 18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792224"/>
            <a:ext cx="6156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d3-geo canvas globe · India state map, 85 KB bundled offline · recommendation panel · scheme chat drawer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23744"/>
            <a:ext cx="10728655" cy="78638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9264" y="2752344"/>
            <a:ext cx="1051560" cy="329184"/>
          </a:xfrm>
          <a:prstGeom prst="roundRect">
            <a:avLst>
              <a:gd name="adj" fmla="val 45000"/>
            </a:avLst>
          </a:prstGeom>
          <a:solidFill>
            <a:srgbClr val="5B8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950" b="1">
                <a:solidFill>
                  <a:srgbClr val="0A1216"/>
                </a:solidFill>
                <a:latin typeface="Helvetica Neue"/>
              </a:rP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642616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CF4F1"/>
                </a:solidFill>
                <a:latin typeface="Helvetica Neue"/>
              </a:rPr>
              <a:t>FastAPI + Pydantic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70048"/>
            <a:ext cx="6156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/api/states · /api/overview · /api/recommend/state · /api/recommend/custom · /api/schemes · /api/chat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01568"/>
            <a:ext cx="10728655" cy="78638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9264" y="3630168"/>
            <a:ext cx="1051560" cy="329184"/>
          </a:xfrm>
          <a:prstGeom prst="roundRect">
            <a:avLst>
              <a:gd name="adj" fmla="val 45000"/>
            </a:avLst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950" b="1">
                <a:solidFill>
                  <a:srgbClr val="0A1216"/>
                </a:solidFill>
                <a:latin typeface="Helvetica Neue"/>
              </a:rPr>
              <a:t>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520440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CF4F1"/>
                </a:solidFill>
                <a:latin typeface="Helvetica Neue"/>
              </a:rPr>
              <a:t>recommender.py · chatbot.py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547872"/>
            <a:ext cx="6156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Four-signal ranking · percentile-envelope explainability · fertiliser planner · grounded scheme retrieval with offline fallback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79392"/>
            <a:ext cx="10728655" cy="78638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9264" y="4507992"/>
            <a:ext cx="1051560" cy="329184"/>
          </a:xfrm>
          <a:prstGeom prst="roundRect">
            <a:avLst>
              <a:gd name="adj" fmla="val 45000"/>
            </a:avLst>
          </a:prstGeom>
          <a:solidFill>
            <a:srgbClr val="9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950" b="1">
                <a:solidFill>
                  <a:srgbClr val="0A1216"/>
                </a:solidFill>
                <a:latin typeface="Helvetica Neue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398264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CF4F1"/>
                </a:solidFill>
                <a:latin typeface="Helvetica Neue"/>
              </a:rPr>
              <a:t>scikit-learn RandomForest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425696"/>
            <a:ext cx="6156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300 trees · 7 features · 22 classes · trained and evaluated by train.py, artefacts versioned with metrics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57216"/>
            <a:ext cx="10728655" cy="78638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9264" y="5385816"/>
            <a:ext cx="1051560" cy="329184"/>
          </a:xfrm>
          <a:prstGeom prst="roundRect">
            <a:avLst>
              <a:gd name="adj" fmla="val 45000"/>
            </a:avLst>
          </a:prstGeom>
          <a:solidFill>
            <a:srgbClr val="D16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950" b="1">
                <a:solidFill>
                  <a:srgbClr val="0A1216"/>
                </a:solidFill>
                <a:latin typeface="Helvetica Neue"/>
              </a:rP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276088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CF4F1"/>
                </a:solidFill>
                <a:latin typeface="Helvetica Neue"/>
              </a:rPr>
              <a:t>Official + curated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303520"/>
            <a:ext cx="6156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246,091 GoI production records · 36 state agro-climatic profiles · CACP costs and MSP · 12 schemes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089904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ECF94"/>
                </a:solidFill>
                <a:latin typeface="Helvetica Neue"/>
              </a:rPr>
              <a:t>Every layer runs locally. The demo needs no network connection and no API key.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Data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Three of the four signals are derived from official Government of India data, not estimated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2517571" cy="120700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39696"/>
            <a:ext cx="2224963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6ECF94"/>
                </a:solidFill>
                <a:latin typeface="Helvetica Neue"/>
              </a:rPr>
              <a:t>246,091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production records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5E7B78"/>
                </a:solidFill>
                <a:latin typeface="Helvetica Neue"/>
              </a:rPr>
              <a:t>Ministry of Agriculture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8547" y="1956816"/>
            <a:ext cx="2517571" cy="120700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4851" y="2139696"/>
            <a:ext cx="2224963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6ECF94"/>
                </a:solidFill>
                <a:latin typeface="Helvetica Neue"/>
              </a:rPr>
              <a:t>645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districts covered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5E7B78"/>
                </a:solidFill>
                <a:latin typeface="Helvetica Neue"/>
              </a:rPr>
              <a:t>33 states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5575" y="1956816"/>
            <a:ext cx="2517571" cy="120700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1879" y="2139696"/>
            <a:ext cx="2224963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5B8AB0"/>
                </a:solidFill>
                <a:latin typeface="Helvetica Neue"/>
              </a:rPr>
              <a:t>19 yrs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of yield history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5E7B78"/>
                </a:solidFill>
                <a:latin typeface="Helvetica Neue"/>
              </a:rPr>
              <a:t>1997–2015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2603" y="1956816"/>
            <a:ext cx="2517571" cy="120700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8907" y="2139696"/>
            <a:ext cx="2224963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5B8AB0"/>
                </a:solidFill>
                <a:latin typeface="Helvetica Neue"/>
              </a:rPr>
              <a:t>81,347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records used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5E7B78"/>
                </a:solidFill>
                <a:latin typeface="Helvetica Neue"/>
              </a:rPr>
              <a:t>after crop mapping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46704"/>
            <a:ext cx="10728655" cy="60350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43814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ECF4F1"/>
                </a:solidFill>
                <a:latin typeface="Helvetica Neue"/>
              </a:rPr>
              <a:t>District-wise crop production statistics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CF94"/>
                </a:solidFill>
                <a:latin typeface="Helvetica Neue"/>
              </a:rPr>
              <a:t>Directorate of Economics &amp; Statistics, MoA&amp;FW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483864"/>
            <a:ext cx="62480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CA9"/>
                </a:solidFill>
                <a:latin typeface="Helvetica Neue"/>
              </a:rPr>
              <a:t>Sown area and production by district, season, crop and year. Gives the regional cultivation prior and measured yields.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10728655" cy="60350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41148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ECF4F1"/>
                </a:solidFill>
                <a:latin typeface="Helvetica Neue"/>
              </a:rPr>
              <a:t>CACP cost of production, 2024-25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CF94"/>
                </a:solidFill>
                <a:latin typeface="Helvetica Neue"/>
              </a:rPr>
              <a:t>Commission for Agricultural Costs &amp; Prices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160520"/>
            <a:ext cx="62480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CA9"/>
                </a:solidFill>
                <a:latin typeface="Helvetica Neue"/>
              </a:rPr>
              <a:t>A2+FL cost per quintal for field crops, and the MSP set at roughly 1.5× that cost.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00016"/>
            <a:ext cx="10728655" cy="60350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79145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ECF4F1"/>
                </a:solidFill>
                <a:latin typeface="Helvetica Neue"/>
              </a:rPr>
              <a:t>IMD climatological normals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8AB0"/>
                </a:solidFill>
                <a:latin typeface="Helvetica Neue"/>
              </a:rPr>
              <a:t>India Meteorological Department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837176"/>
            <a:ext cx="62480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CA9"/>
                </a:solidFill>
                <a:latin typeface="Helvetica Neue"/>
              </a:rPr>
              <a:t>Temperature, humidity and rainfall normals per state, used for agro-climatic fitness and the irrigation gap.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76672"/>
            <a:ext cx="10728655" cy="60350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46811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ECF4F1"/>
                </a:solidFill>
                <a:latin typeface="Helvetica Neue"/>
              </a:rPr>
              <a:t>Soil Health Card portal aggregates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8AB0"/>
                </a:solidFill>
                <a:latin typeface="Helvetica Neue"/>
              </a:rPr>
              <a:t>Department of Agriculture &amp; Farmers Welfare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5513832"/>
            <a:ext cx="62480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CA9"/>
                </a:solidFill>
                <a:latin typeface="Helvetica Neue"/>
              </a:rPr>
              <a:t>District-averaged N, P, K and pH, forming the soil half of each state profile.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6053328"/>
            <a:ext cx="10728655" cy="60350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614476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ECF4F1"/>
                </a:solidFill>
                <a:latin typeface="Helvetica Neue"/>
              </a:rPr>
              <a:t>Scheme guidelines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0A458"/>
                </a:solidFill>
                <a:latin typeface="Helvetica Neue"/>
              </a:rPr>
              <a:t>12 central schemes across 8 categories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6190488"/>
            <a:ext cx="62480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CA9"/>
                </a:solidFill>
                <a:latin typeface="Helvetica Neue"/>
              </a:rPr>
              <a:t>PM-KISAN, PMFBY, KCC, Soil Health Card, PMKSY, PM-KUSUM, e-NAM, MSP, MIDH, FPO, AIF, Natural Farming.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What Real Data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Substituting official statistics for hand-authored estimates corrected the model, and corrected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10728655" cy="102412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03120"/>
            <a:ext cx="22860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CF94"/>
                </a:solidFill>
                <a:latin typeface="Helvetica Neue"/>
              </a:rPr>
              <a:t>Cultivation prior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2093976"/>
            <a:ext cx="7894015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Was our own judgement of which crops each state grows. Now measured sown area: Punjab is 79% rice and 15% cotton; Kerala is 72% coconut. It corrected our own guess — we had listed banana as Kerala's leading crop.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728655" cy="102412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227832"/>
            <a:ext cx="22860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CF94"/>
                </a:solidFill>
                <a:latin typeface="Helvetica Neue"/>
              </a:rPr>
              <a:t>Yield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3218688"/>
            <a:ext cx="7894015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Was one national figure per crop. Now state-specific and measured: Punjab paddy 3.73 t/ha against Jharkhand 0.97 t/ha. A national average erases exactly the regional gap that matters.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728655" cy="102412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352544"/>
            <a:ext cx="22860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CF94"/>
                </a:solidFill>
                <a:latin typeface="Helvetica Neue"/>
              </a:rPr>
              <a:t>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4343400"/>
            <a:ext cx="7894015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Was a hand-assigned score from 1 to 5. Now the coefficient of variation of yield across 19 years, blended with market risk. Moth beans at CV 0.72 genuinely fail some years; grapes at CV 0.06 genuinely do not.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30952"/>
            <a:ext cx="10728655" cy="102412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477256"/>
            <a:ext cx="22860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0A458"/>
                </a:solidFill>
                <a:latin typeface="Helvetica Neue"/>
              </a:rPr>
              <a:t>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3552" y="5468112"/>
            <a:ext cx="7894015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Was a fixed cost per hectare, quietly calibrated against optimistic yields. Now CACP cost per quintal, so cost scales with what the land actually produces — the same basis the government uses to set MSP.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The Ranking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Four signals, weighted explicitly — the policy is auditable, not buried inside 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10728655" cy="87782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0312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6ECF94"/>
                </a:solidFill>
                <a:latin typeface="Helvetica Neue"/>
              </a:rPr>
              <a:t>Agro-climatic fitness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E7B78"/>
                </a:solidFill>
                <a:latin typeface="Helvetica Neue"/>
              </a:rPr>
              <a:t>Can it survive here?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112264"/>
            <a:ext cx="64008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F4F1"/>
                </a:solidFill>
                <a:latin typeface="Helvetica Neue"/>
              </a:rPr>
              <a:t>RandomForest probability blended with each crop's 10th–90th percentile envelope. The forest is accurate but spiky; the envelope gives a smooth signal across all 22 crops.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2176272"/>
            <a:ext cx="1216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ECF94"/>
                </a:solidFill>
                <a:latin typeface="Helvetica Neue"/>
              </a:rPr>
              <a:t>45%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10728655" cy="87782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72384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0A458"/>
                </a:solidFill>
                <a:latin typeface="Helvetica Neue"/>
              </a:rPr>
              <a:t>Economics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E7B78"/>
                </a:solidFill>
                <a:latin typeface="Helvetica Neue"/>
              </a:rPr>
              <a:t>What does it earn?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081528"/>
            <a:ext cx="64008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F4F1"/>
                </a:solidFill>
                <a:latin typeface="Helvetica Neue"/>
              </a:rPr>
              <a:t>Measured yield × MSP or mandi price, minus CACP cost. Annualised, so a 70-day moong is comparable with a 30-year mango orchard carrying amortised establishment cost.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3145536"/>
            <a:ext cx="1216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E0A458"/>
                </a:solidFill>
                <a:latin typeface="Helvetica Neue"/>
              </a:rPr>
              <a:t>30%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95344"/>
            <a:ext cx="10728655" cy="87782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041648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5B8AB0"/>
                </a:solidFill>
                <a:latin typeface="Helvetica Neue"/>
              </a:rPr>
              <a:t>Water feasibility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E7B78"/>
                </a:solidFill>
                <a:latin typeface="Helvetica Neue"/>
              </a:rPr>
              <a:t>Can they irrigate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4050792"/>
            <a:ext cx="64008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F4F1"/>
                </a:solidFill>
                <a:latin typeface="Helvetica Neue"/>
              </a:rPr>
              <a:t>Crop water requirement against 70% of local rainfall. Reports the irrigation gap in millimetres and a rainfed / light / moderate / heavy verdict.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14800"/>
            <a:ext cx="1216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5B8AB0"/>
                </a:solidFill>
                <a:latin typeface="Helvetica Neue"/>
              </a:rPr>
              <a:t>15%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64608"/>
            <a:ext cx="10728655" cy="87782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010912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D1685C"/>
                </a:solidFill>
                <a:latin typeface="Helvetica Neue"/>
              </a:rPr>
              <a:t>Risk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E7B78"/>
                </a:solidFill>
                <a:latin typeface="Helvetica Neue"/>
              </a:rPr>
              <a:t>How exposed are they?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5020056"/>
            <a:ext cx="64008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F4F1"/>
                </a:solidFill>
                <a:latin typeface="Helvetica Neue"/>
              </a:rPr>
              <a:t>Measured yield volatility for production risk, blended with perishability, price volatility and capital lock-in for market 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5084064"/>
            <a:ext cx="1216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D1685C"/>
                </a:solidFill>
                <a:latin typeface="Helvetica Neue"/>
              </a:rP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88736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93ACA9"/>
                </a:solidFill>
                <a:latin typeface="Helvetica Neue"/>
              </a:rPr>
              <a:t>Fitness is also a gate. A crop the region does not cultivate is removed outright, however profitable it looks — and profit is discounted by regional evidence, because a farmer cannot realise a national yield in a district with no supply chain for that crop.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Model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RandomForest · 300 trees · 2,200 samples · 22 crops · trained in 0.22s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2517571" cy="128016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39696"/>
            <a:ext cx="2224963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6ECF94"/>
                </a:solidFill>
                <a:latin typeface="Helvetica Neue"/>
              </a:rPr>
              <a:t>99.55%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hold-out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8547" y="1956816"/>
            <a:ext cx="2517571" cy="128016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4851" y="2139696"/>
            <a:ext cx="2224963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6ECF94"/>
                </a:solidFill>
                <a:latin typeface="Helvetica Neue"/>
              </a:rPr>
              <a:t>99.50%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5-fold cross-validation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5E7B78"/>
                </a:solidFill>
                <a:latin typeface="Helvetica Neue"/>
              </a:rPr>
              <a:t>± 0.27%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5575" y="1956816"/>
            <a:ext cx="2517571" cy="128016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1879" y="2139696"/>
            <a:ext cx="2224963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E0A458"/>
                </a:solidFill>
                <a:latin typeface="Helvetica Neue"/>
              </a:rPr>
              <a:t>2 / 440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misclassified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2603" y="1956816"/>
            <a:ext cx="2517571" cy="128016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8907" y="2139696"/>
            <a:ext cx="2224963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5B8AB0"/>
                </a:solidFill>
                <a:latin typeface="Helvetica Neue"/>
              </a:rPr>
              <a:t>0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SMOTE applied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5E7B78"/>
                </a:solidFill>
                <a:latin typeface="Helvetica Neue"/>
              </a:rPr>
              <a:t>by design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93008"/>
            <a:ext cx="5227167" cy="2286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94176"/>
            <a:ext cx="4678527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50" b="1" i="0">
                <a:solidFill>
                  <a:srgbClr val="93ACA9"/>
                </a:solidFill>
                <a:latin typeface="Helvetica Neue"/>
              </a:rPr>
              <a:t>FEATURE IMPORTANCE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ECF4F1"/>
                </a:solidFill>
                <a:latin typeface="Menlo"/>
              </a:rPr>
              <a:t>rainfall    </a:t>
            </a:r>
            <a:r>
              <a:rPr sz="1000">
                <a:solidFill>
                  <a:srgbClr val="6ECF94"/>
                </a:solidFill>
                <a:latin typeface="Menlo"/>
              </a:rPr>
              <a:t>▌▌▌▌▌▌▌▌▌▌  0.222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ECF4F1"/>
                </a:solidFill>
                <a:latin typeface="Menlo"/>
              </a:rPr>
              <a:t>humidity    </a:t>
            </a:r>
            <a:r>
              <a:rPr sz="1000">
                <a:solidFill>
                  <a:srgbClr val="6ECF94"/>
                </a:solidFill>
                <a:latin typeface="Menlo"/>
              </a:rPr>
              <a:t>▌▌▌▌▌▌▌▌▌  0.212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ECF4F1"/>
                </a:solidFill>
                <a:latin typeface="Menlo"/>
              </a:rPr>
              <a:t>K           </a:t>
            </a:r>
            <a:r>
              <a:rPr sz="1000">
                <a:solidFill>
                  <a:srgbClr val="6ECF94"/>
                </a:solidFill>
                <a:latin typeface="Menlo"/>
              </a:rPr>
              <a:t>▌▌▌▌▌▌▌▌  0.179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ECF4F1"/>
                </a:solidFill>
                <a:latin typeface="Menlo"/>
              </a:rPr>
              <a:t>P           </a:t>
            </a:r>
            <a:r>
              <a:rPr sz="1000">
                <a:solidFill>
                  <a:srgbClr val="6ECF94"/>
                </a:solidFill>
                <a:latin typeface="Menlo"/>
              </a:rPr>
              <a:t>▌▌▌▌▌▌▌  0.154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ECF4F1"/>
                </a:solidFill>
                <a:latin typeface="Menlo"/>
              </a:rPr>
              <a:t>N           </a:t>
            </a:r>
            <a:r>
              <a:rPr sz="1000">
                <a:solidFill>
                  <a:srgbClr val="6ECF94"/>
                </a:solidFill>
                <a:latin typeface="Menlo"/>
              </a:rPr>
              <a:t>▌▌▌▌  0.104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ECF4F1"/>
                </a:solidFill>
                <a:latin typeface="Menlo"/>
              </a:rPr>
              <a:t>temperature </a:t>
            </a:r>
            <a:r>
              <a:rPr sz="1000">
                <a:solidFill>
                  <a:srgbClr val="6ECF94"/>
                </a:solidFill>
                <a:latin typeface="Menlo"/>
              </a:rPr>
              <a:t>▌▌▌  0.076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ECF4F1"/>
                </a:solidFill>
                <a:latin typeface="Menlo"/>
              </a:rPr>
              <a:t>ph          </a:t>
            </a:r>
            <a:r>
              <a:rPr sz="1000">
                <a:solidFill>
                  <a:srgbClr val="6ECF94"/>
                </a:solidFill>
                <a:latin typeface="Menlo"/>
              </a:rPr>
              <a:t>▌▌  0.054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3493008"/>
            <a:ext cx="5227167" cy="2286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 w="13970">
            <a:solidFill>
              <a:srgbClr val="E0A4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7" y="3694176"/>
            <a:ext cx="4678527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50" b="1" i="0">
                <a:solidFill>
                  <a:srgbClr val="E0A458"/>
                </a:solidFill>
                <a:latin typeface="Helvetica Neue"/>
              </a:rPr>
              <a:t>READING 99.5% HONESTLY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The training set is exactly balanced — 100 samples for each of the 22 crops — so no resampling was applied. Running SMOTE here would inject synthetic noise while correcting no imbalance, and train.py asserts the balance rather than assuming it.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CA9"/>
                </a:solidFill>
                <a:latin typeface="Helvetica Neue"/>
              </a:rPr>
              <a:t>The accuracy is high because this dataset has clean, well-separated class boundaries. It should not be read as real-world performance — which is precisely why the model is one signal of four rather than the whole system.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10712"/>
            <a:ext cx="502920" cy="3810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6ECF94"/>
                </a:solidFill>
                <a:latin typeface="Helvetica Neue"/>
              </a:rPr>
              <a:t>PART THREE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ECF4F1"/>
                </a:solidFill>
                <a:latin typeface="Helvetica Neue"/>
              </a:rPr>
              <a:t>The Product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Every feature, as it appears to the farmer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Feature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7722" cy="129844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1750" cy="1298448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828800"/>
            <a:ext cx="296052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Interactive 3D globe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93ACA9"/>
                </a:solidFill>
                <a:latin typeface="Helvetica Neue"/>
              </a:rPr>
              <a:t>Canvas-rendered orthographic projection that animates to India's centroid. No three.js, no CDN textures — it runs offline.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6986" y="1645920"/>
            <a:ext cx="3417722" cy="129844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6986" y="1645920"/>
            <a:ext cx="31750" cy="1298448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4730" y="1828800"/>
            <a:ext cx="296052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Clickable map of India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93ACA9"/>
                </a:solidFill>
                <a:latin typeface="Helvetica Neue"/>
              </a:rPr>
              <a:t>All 36 states and UTs, dissolved from a 760-district boundary file and simplified 4 MB → 85 KB. Filled by the crop type ranked first in each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2452" y="1645920"/>
            <a:ext cx="3417722" cy="129844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2452" y="1645920"/>
            <a:ext cx="31750" cy="1298448"/>
          </a:xfrm>
          <a:prstGeom prst="rect">
            <a:avLst/>
          </a:prstGeom>
          <a:solidFill>
            <a:srgbClr val="5B8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0196" y="1828800"/>
            <a:ext cx="296052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Ranked recommendations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93ACA9"/>
                </a:solidFill>
                <a:latin typeface="Helvetica Neue"/>
              </a:rPr>
              <a:t>Six crops per state with climate fit, water need, net return per year, MSP coverage and an honest confidence label.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27248"/>
            <a:ext cx="3417722" cy="129844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127248"/>
            <a:ext cx="31750" cy="1298448"/>
          </a:xfrm>
          <a:prstGeom prst="rect">
            <a:avLst/>
          </a:prstGeom>
          <a:solidFill>
            <a:srgbClr val="5B8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310128"/>
            <a:ext cx="296052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Farm-size scaling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93ACA9"/>
                </a:solidFill>
                <a:latin typeface="Helvetica Neue"/>
              </a:rPr>
              <a:t>A slider from 0.5 to 10 hectares rescales every rupee figure; the backend owns the arithmetic so amortisation stays correct.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6986" y="3127248"/>
            <a:ext cx="3417722" cy="129844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6986" y="3127248"/>
            <a:ext cx="31750" cy="1298448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4730" y="3310128"/>
            <a:ext cx="296052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Explainability panel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93ACA9"/>
                </a:solidFill>
                <a:latin typeface="Helvetica Neue"/>
              </a:rPr>
              <a:t>Each condition compared against that crop's ideal band, mismatches surfaced first, sorted by feature importance.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2452" y="3127248"/>
            <a:ext cx="3417722" cy="129844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2452" y="3127248"/>
            <a:ext cx="31750" cy="1298448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3310128"/>
            <a:ext cx="296052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Costed fertiliser plan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93ACA9"/>
                </a:solidFill>
                <a:latin typeface="Helvetica Neue"/>
              </a:rPr>
              <a:t>The NPK gap converted into kilograms of urea, DAP and MOP, 50 kg bags, and a total in rupees.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08576"/>
            <a:ext cx="3417722" cy="129844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608576"/>
            <a:ext cx="31750" cy="1298448"/>
          </a:xfrm>
          <a:prstGeom prst="rect">
            <a:avLst/>
          </a:prstGeom>
          <a:solidFill>
            <a:srgbClr val="9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4791456"/>
            <a:ext cx="296052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Data provenance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93ACA9"/>
                </a:solidFill>
                <a:latin typeface="Helvetica Neue"/>
              </a:rPr>
              <a:t>Every crop shows which yield source was used, the evidence that it is grown there, and its share of sown area.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6986" y="4608576"/>
            <a:ext cx="3417722" cy="129844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6986" y="4608576"/>
            <a:ext cx="31750" cy="1298448"/>
          </a:xfrm>
          <a:prstGeom prst="rect">
            <a:avLst/>
          </a:prstGeom>
          <a:solidFill>
            <a:srgbClr val="9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4730" y="4791456"/>
            <a:ext cx="296052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Scheme advisory chatbot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93ACA9"/>
                </a:solidFill>
                <a:latin typeface="Helvetica Neue"/>
              </a:rPr>
              <a:t>Grounded retrieval over 12 central schemes, backed by Grok, degrading to local retrieval with no key and no network.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2452" y="4608576"/>
            <a:ext cx="3417722" cy="129844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2452" y="4608576"/>
            <a:ext cx="31750" cy="1298448"/>
          </a:xfrm>
          <a:prstGeom prst="rect">
            <a:avLst/>
          </a:prstGeom>
          <a:solidFill>
            <a:srgbClr val="D16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0196" y="4791456"/>
            <a:ext cx="296052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Soil overrides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93ACA9"/>
                </a:solidFill>
                <a:latin typeface="Helvetica Neue"/>
              </a:rPr>
              <a:t>A farmer's own Soil Health Card or sensor readings replace the state averages through the same API.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Entry: Globe to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27167" cy="3007364"/>
          </a:xfrm>
          <a:prstGeom prst="rect">
            <a:avLst/>
          </a:prstGeom>
        </p:spPr>
      </p:pic>
      <p:pic>
        <p:nvPicPr>
          <p:cNvPr id="7" name="Picture 6" descr="02-map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645920"/>
            <a:ext cx="5227167" cy="30073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773168"/>
            <a:ext cx="52271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ECF94"/>
                </a:solidFill>
                <a:latin typeface="Helvetica Neue"/>
              </a:rPr>
              <a:t>Rendered with d3-geo on canvas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The globe spins, highlights India, and animates to its centroid on click. No WebGL dependency and no texture fetch, so it cannot fail on a conference-room network.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4773168"/>
            <a:ext cx="52271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ECF94"/>
                </a:solidFill>
                <a:latin typeface="Helvetica Neue"/>
              </a:rPr>
              <a:t>36 states, coloured by top crop type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Boundaries dissolved from a 760-district file and simplified to 85 KB, bundled into the build. One /api/overview call scores every state in about 1.4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Recommendation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Maharashtra — mango, orange and banana: Konkan, Nagpur and Jalgaon respectively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maharash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56816"/>
            <a:ext cx="6675120" cy="38404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2048256"/>
            <a:ext cx="377921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Ranked, with the money shown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Net return per year for the farmer's actual holding, not an abstract score.</a:t>
            </a: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MSP badge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Marks crops with a guaranteed government floor price — materially lower price risk.</a:t>
            </a: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Honest confidence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Every card is labelled high, moderate or low. A weak match is never dressed up as certainty.</a:t>
            </a: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Gate transparency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The panel states how many crops were excluded as not cultivated there, and how many used measured government yield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Explainability &amp;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A farmer will not act on a number they cannot check — and neither will an extension officer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explain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56816"/>
            <a:ext cx="6675120" cy="38404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2048256"/>
            <a:ext cx="377921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Condition against ideal band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Every reading compared with that crop's observed 10th–90th percentile range, mismatches first.</a:t>
            </a: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Full cost breakdown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Gross revenue, operating cost, amortised setup, measured yield volatility and the risk-adjusted figure.</a:t>
            </a: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Data sources, per crop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Which yield source was used, the evidence the crop is grown there, its share of sown area, and how risk was derived.</a:t>
            </a: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Costed fertiliser plan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The nutrient gap as bags of urea, DAP and MOP with a rupee total — an instruction, not a diagnosis.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Scheme Advisory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Grounded on 12 central schemes · Grok (x.ai) with local retrieval fallback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-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56816"/>
            <a:ext cx="6675120" cy="38404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2048256"/>
            <a:ext cx="377921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Retrieval before generation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The question retrieves matching schemes first; only that verified text reaches the model as context.</a:t>
            </a: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Constrained deliberately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A hallucinated subsidy percentage costs a farmer real money. The model summarises verified text rather than recalling from training.</a:t>
            </a: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Degrades, never fails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Without an API key the same retrieval renders a structured answer directly. The feature falls back to search instead of going down.</a:t>
            </a: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Context aware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The selected state and recommended crop are passed in, so the farmer never has to restate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10712"/>
            <a:ext cx="502920" cy="3810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6ECF94"/>
                </a:solidFill>
                <a:latin typeface="Helvetica Neue"/>
              </a:rPr>
              <a:t>PART FOUR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ECF4F1"/>
                </a:solidFill>
                <a:latin typeface="Helvetica Neue"/>
              </a:rPr>
              <a:t>Validation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Does the engine reproduce reality — and what did building it teach 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Does It Match Reality?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Recommendations reproduce real Indian cropping patterns; none of them are hard-coded as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56816"/>
            <a:ext cx="104726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E7B78"/>
                </a:solidFill>
                <a:latin typeface="Menlo"/>
              </a:rPr>
              <a:t>STATE                 </a:t>
            </a:r>
            <a:r>
              <a:rPr sz="900" b="1">
                <a:solidFill>
                  <a:srgbClr val="5E7B78"/>
                </a:solidFill>
                <a:latin typeface="Menlo"/>
              </a:rPr>
              <a:t>TOP RECOMMENDATIONS               </a:t>
            </a:r>
            <a:r>
              <a:rPr sz="900" b="1">
                <a:solidFill>
                  <a:srgbClr val="5E7B78"/>
                </a:solidFill>
                <a:latin typeface="Menlo"/>
              </a:rPr>
              <a:t>REALITY CHECK      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22576"/>
            <a:ext cx="10728655" cy="51206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44144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Assam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5059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CF94"/>
                </a:solidFill>
                <a:latin typeface="Helvetica Neue"/>
              </a:rPr>
              <a:t>Jute · 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459736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The jute and paddy belt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98648"/>
            <a:ext cx="10728655" cy="51206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0175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West Bengal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26664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CF94"/>
                </a:solidFill>
                <a:latin typeface="Helvetica Neue"/>
              </a:rPr>
              <a:t>Jute · Rice · Banana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03580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India's largest jute producer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10728655" cy="51206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59359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Kerala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602736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CF94"/>
                </a:solidFill>
                <a:latin typeface="Helvetica Neue"/>
              </a:rPr>
              <a:t>Rice · Banana · Coconut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61188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Coconut is 72% of Kerala's sown area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50792"/>
            <a:ext cx="10728655" cy="51206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169664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Maharashtra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17880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CF94"/>
                </a:solidFill>
                <a:latin typeface="Helvetica Neue"/>
              </a:rPr>
              <a:t>Mango · Orange · Banana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18795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Konkan mango, Nagpur orange, Jalgaon banana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26864"/>
            <a:ext cx="10728655" cy="51206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745736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Punjab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75488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CF94"/>
                </a:solidFill>
                <a:latin typeface="Helvetica Neue"/>
              </a:rPr>
              <a:t>Maize · Cotton · Lentil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764024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Cotton is 15% of Punjab's sown area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202936"/>
            <a:ext cx="10728655" cy="51206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532180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Rajasthan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533095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CF94"/>
                </a:solidFill>
                <a:latin typeface="Helvetica Neue"/>
              </a:rPr>
              <a:t>Watermelon · Moth beans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5340096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Arid-zone crops; moth beans are 22% of area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779008"/>
            <a:ext cx="10728655" cy="51206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589788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Himachal Pradesh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907024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CF94"/>
                </a:solidFill>
                <a:latin typeface="Helvetica Neue"/>
              </a:rPr>
              <a:t>Maize · Orange · Rajma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591616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Maize is 76% of HP's sown area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It Surfaces Real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The engine does not hide agronomic tension — it reports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10728655" cy="1783080"/>
          </a:xfrm>
          <a:prstGeom prst="roundRect">
            <a:avLst>
              <a:gd name="adj" fmla="val 4500"/>
            </a:avLst>
          </a:prstGeom>
          <a:solidFill>
            <a:srgbClr val="2B1D18"/>
          </a:solidFill>
          <a:ln w="13970">
            <a:solidFill>
              <a:srgbClr val="E0A4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212848"/>
            <a:ext cx="99056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 i="0">
                <a:solidFill>
                  <a:srgbClr val="E0A458"/>
                </a:solidFill>
                <a:latin typeface="Helvetica Neue"/>
              </a:rPr>
              <a:t>Punjab paddy scores 0.39 agro-climatic fitness with a 346 mm irrigation gap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CF4F1"/>
                </a:solidFill>
                <a:latin typeface="Helvetica Neue"/>
              </a:rPr>
              <a:t>649 mm of annual rainfall cannot support rice. Punjab grows it anyway, through groundwater extraction — and the engine flags the shortfall with a “check groundwater status” verdict. The state's documented water crisis falls directly out of the model output, without being told about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68496"/>
            <a:ext cx="5227167" cy="18288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 w="13970">
            <a:solidFill>
              <a:srgbClr val="D16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87952"/>
            <a:ext cx="467852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D1685C"/>
                </a:solidFill>
                <a:latin typeface="Helvetica Neue"/>
              </a:rPr>
              <a:t>What a naive ranking does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Rank on headline profit and the system recommends pomegranate for all 36 states — including Punjab, where it scores 0% suitability. This is not hypothetical: it is what our first implementation did, and it is reproducible by setting the profit weight to 0.9.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3968496"/>
            <a:ext cx="5227167" cy="18288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 w="13970">
            <a:solidFill>
              <a:srgbClr val="6ECF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187952"/>
            <a:ext cx="467852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6ECF94"/>
                </a:solidFill>
                <a:latin typeface="Helvetica Neue"/>
              </a:rPr>
              <a:t>What fixed it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Rank on risk-adjusted expected return — profit weighted by climate fitness and regional evidence, then log-compressed. A crop paying ₹6 lakh per hectare that half-fits the climate is not worth more than one paying ₹3 lakh that thrives.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Engineering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Four defects worth recording, because each one changed the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10728655" cy="1042415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56816"/>
            <a:ext cx="31750" cy="1042415"/>
          </a:xfrm>
          <a:prstGeom prst="rect">
            <a:avLst/>
          </a:prstGeom>
          <a:solidFill>
            <a:srgbClr val="D16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1685C"/>
                </a:solidFill>
                <a:latin typeface="Helvetica Neue"/>
              </a:rPr>
              <a:t>Rainfall unit mismatch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103120"/>
            <a:ext cx="72539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The training data's rainfall column runs 20–299 mm per growing cycle; IMD state normals are annual totals of 108–3062 mm. Feeding annual figures in put every state outside the training distribution, the forest returned ≈0 probability for everything, and the profit term won by default.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90672"/>
            <a:ext cx="10728655" cy="1042415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090672"/>
            <a:ext cx="31750" cy="1042415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36976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A458"/>
                </a:solidFill>
                <a:latin typeface="Helvetica Neue"/>
              </a:rPr>
              <a:t>Cost calibrated to optimistic yield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236976"/>
            <a:ext cx="72539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Fixed per-hectare costs had been tuned against our own generous yield estimates. Substituting real, lower yields turned paddy into a phantom loss. Fixed by costing field crops per quintal from CACP data, so cost scales with output.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24528"/>
            <a:ext cx="10728655" cy="1042415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224528"/>
            <a:ext cx="31750" cy="1042415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70832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A458"/>
                </a:solidFill>
                <a:latin typeface="Helvetica Neue"/>
              </a:rPr>
              <a:t>Skewed profit normalisation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370832"/>
            <a:ext cx="72539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Net return per hectare spans ₹10,000 to ₹7 lakh. Min–max normalising that raw range gave the largest crop a score of 1.0 and squashed everything else, putting papaya first in six of ten states. A log transform restored proportion between tiers.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58384"/>
            <a:ext cx="10728655" cy="1042415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358384"/>
            <a:ext cx="31750" cy="1042415"/>
          </a:xfrm>
          <a:prstGeom prst="rect">
            <a:avLst/>
          </a:prstGeom>
          <a:solidFill>
            <a:srgbClr val="5B8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504688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8AB0"/>
                </a:solidFill>
                <a:latin typeface="Helvetica Neue"/>
              </a:rPr>
              <a:t>Yield stability read as 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504688"/>
            <a:ext cx="72539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Measured volatility captures production risk only. Papaya yields reliably but rots without a cold chain and crashes in price at a local glut. Production and market risk are now blended rather than conflated.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Current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Working end to end — model, engine, API, interface and chatbot, running fully offline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6949440" cy="393192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 w="13970">
            <a:solidFill>
              <a:srgbClr val="4C9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76272"/>
            <a:ext cx="6364224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6ECF94"/>
                </a:solidFill>
                <a:latin typeface="Helvetica Neue"/>
              </a:rPr>
              <a:t>DELIVERED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RandomForest trained, evaluated and versioned (99.50% CV)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Four-signal ranking engine with real cultivation prior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246,091 official GoI records integrated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State-specific measured yields and empirical risk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CACP per-quintal cost model for field crops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Agro-climatic profiles for all 36 states and UTs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Explainability layer and costed fertiliser planner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FastAPI service — 7 endpoints, validation, CORS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React interface — globe, map, panel, chat drawer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Grounded chatbot over 12 schemes with offline fallback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Data provenance surfaced per recommendation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Verified end to end in headless Chrome, zero console errors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956816"/>
            <a:ext cx="3504895" cy="393192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176272"/>
            <a:ext cx="2919679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E0A458"/>
                </a:solidFill>
                <a:latin typeface="Helvetica Neue"/>
              </a:rPr>
              <a:t>IN PROGRESS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0" i="0">
                <a:solidFill>
                  <a:srgbClr val="93ACA9"/>
                </a:solidFill>
                <a:latin typeface="Helvetica Neue"/>
              </a:rPr>
              <a:t>○   Grok API key wiring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0" i="0">
                <a:solidFill>
                  <a:srgbClr val="93ACA9"/>
                </a:solidFill>
                <a:latin typeface="Helvetica Neue"/>
              </a:rPr>
              <a:t>○   District-level resolution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0" i="0">
                <a:solidFill>
                  <a:srgbClr val="93ACA9"/>
                </a:solidFill>
                <a:latin typeface="Helvetica Neue"/>
              </a:rPr>
              <a:t>○   Live weather and mandi prices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0" i="0">
                <a:solidFill>
                  <a:srgbClr val="93ACA9"/>
                </a:solidFill>
                <a:latin typeface="Helvetica Neue"/>
              </a:rPr>
              <a:t>○   Hindi and regional languages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0" i="0">
                <a:solidFill>
                  <a:srgbClr val="93ACA9"/>
                </a:solidFill>
                <a:latin typeface="Helvetica Neue"/>
              </a:rPr>
              <a:t>○   ESP32 soil sensor hardware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0" i="0">
                <a:solidFill>
                  <a:srgbClr val="93ACA9"/>
                </a:solidFill>
                <a:latin typeface="Helvetica Neue"/>
              </a:rPr>
              <a:t>○   Leaf-disease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27167" cy="18288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46785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6ECF94"/>
                </a:solidFill>
                <a:latin typeface="Helvetica Neue"/>
              </a:rPr>
              <a:t>SOFTWARE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Python 3.12 · FastAPI · Uvicorn · Pydantic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scikit-learn · pandas · NumPy · joblib · shapely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React 18 · Vite · d3-geo · topojson-client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httpx · python-pptx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645920"/>
            <a:ext cx="5227167" cy="18288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7327" y="1847088"/>
            <a:ext cx="46785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5B8AB0"/>
                </a:solidFill>
                <a:latin typeface="Helvetica Neue"/>
              </a:rPr>
              <a:t>DATA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GoI crop production statistics (246,091 records)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Crop_recommendation.csv (2,200 × 22) for fitness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IMD normals · Soil Health Card aggregates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CACP MSP and cost of production 2024-25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5227167" cy="18288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58768"/>
            <a:ext cx="46785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E0A458"/>
                </a:solidFill>
                <a:latin typeface="Helvetica Neue"/>
              </a:rPr>
              <a:t>EXTERNAL SERVICES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Grok / x.ai — scheme chatbot (free tier)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Open-Meteo — live weather (planned)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Agmarknet / data.gov.in — mandi prices (planned)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Bhashini — Indian languages (planned)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3657600"/>
            <a:ext cx="5227167" cy="18288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3858768"/>
            <a:ext cx="46785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9B7CC4"/>
                </a:solidFill>
                <a:latin typeface="Helvetica Neue"/>
              </a:rPr>
              <a:t>HARDWARE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Laptop — the demo runs entirely offline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ESP32 + RS485 7-in-1 NPK soil sensor (planned)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DHT22 temperature and humidity module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Feeds live readings through the existing override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10712"/>
            <a:ext cx="502920" cy="3810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6ECF94"/>
                </a:solidFill>
                <a:latin typeface="Helvetica Neue"/>
              </a:rPr>
              <a:t>PART FIVE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ECF4F1"/>
                </a:solidFill>
                <a:latin typeface="Helvetica Neue"/>
              </a:rPr>
              <a:t>Future Scope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Where this goes next, and how it scales beyond a single farmer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Three horizons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3417722" cy="393192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56816"/>
            <a:ext cx="3417722" cy="3810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2869082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6ECF94"/>
                </a:solidFill>
                <a:latin typeface="Helvetica Neue"/>
              </a:rPr>
              <a:t>NEAR TERM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950" b="0" i="1">
                <a:solidFill>
                  <a:srgbClr val="5E7B78"/>
                </a:solidFill>
                <a:latin typeface="Helvetica Neue"/>
              </a:rPr>
              <a:t>next iteration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·  District-level resolution — Nashik ≠ Vidarbha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·  Live weather via Open-Meteo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·  Live mandi prices via Agmarknet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·  Hindi and regional languages via Bhashini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·  Voice interface for low-literacy users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·  SHAP values alongside the ideal bands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6986" y="1956816"/>
            <a:ext cx="3417722" cy="393192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6986" y="1956816"/>
            <a:ext cx="3417722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1306" y="2212848"/>
            <a:ext cx="2869082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0A458"/>
                </a:solidFill>
                <a:latin typeface="Helvetica Neue"/>
              </a:rPr>
              <a:t>MEDIUM TERM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950" b="0" i="1">
                <a:solidFill>
                  <a:srgbClr val="5E7B78"/>
                </a:solidFill>
                <a:latin typeface="Helvetica Neue"/>
              </a:rPr>
              <a:t>beyond the review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Crop rotation planning across seasons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Groundwater sustainability from CGWB blocks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Mandi price forecasting before sowing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Leaf-disease detection from a photograph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ESP32 + NPK sensor for live soil readings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WhatsApp bot for non-smartphone farmers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2452" y="1956816"/>
            <a:ext cx="3417722" cy="393192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2452" y="1956816"/>
            <a:ext cx="3417722" cy="38100"/>
          </a:xfrm>
          <a:prstGeom prst="rect">
            <a:avLst/>
          </a:prstGeom>
          <a:solidFill>
            <a:srgbClr val="9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6772" y="2212848"/>
            <a:ext cx="2869082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B7CC4"/>
                </a:solidFill>
                <a:latin typeface="Helvetica Neue"/>
              </a:rPr>
              <a:t>LONGER TERM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950" b="0" i="1">
                <a:solidFill>
                  <a:srgbClr val="5E7B78"/>
                </a:solidFill>
                <a:latin typeface="Helvetica Neue"/>
              </a:rPr>
              <a:t>the scaled system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Sentinel-2 NDVI crop health monitoring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Land allocation optimised under constraints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FPO and district-officer dashboards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Glut and shortage early warning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Carbon credit and sustainability scoring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Credit scoring for KCC pre-qualification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Scaling Beyond One Farmer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The same engine serves three progressively larger audiences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10728655" cy="1143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03120"/>
            <a:ext cx="2377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CF94"/>
                </a:solidFill>
                <a:latin typeface="Helvetica Neue"/>
              </a:rPr>
              <a:t>The farmer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2" y="2093976"/>
            <a:ext cx="7802575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What to plant, what it costs, what it earns, which scheme applies. Delivered by voice in the local language, over WhatsApp where there is no smartphone.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10728655" cy="1143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346704"/>
            <a:ext cx="2377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B8AB0"/>
                </a:solidFill>
                <a:latin typeface="Helvetica Neue"/>
              </a:rPr>
              <a:t>The FPO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3337560"/>
            <a:ext cx="7802575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Aggregate the intent of hundreds of members into collective input purchase, shared cold storage, and a bulk sale that commands a better price than any one farmer could.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43984"/>
            <a:ext cx="10728655" cy="1143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590288"/>
            <a:ext cx="2377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9B7CC4"/>
                </a:solidFill>
                <a:latin typeface="Helvetica Neue"/>
              </a:rPr>
              <a:t>The district officer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4581144"/>
            <a:ext cx="7802575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Aggregate cropping intent across a district becomes an early warning: if 60% of farmers intend to plant the same crop, the glut and the price crash are both predictable months ahead.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60720"/>
            <a:ext cx="10728655" cy="786384"/>
          </a:xfrm>
          <a:prstGeom prst="roundRect">
            <a:avLst>
              <a:gd name="adj" fmla="val 4500"/>
            </a:avLst>
          </a:prstGeom>
          <a:solidFill>
            <a:srgbClr val="1B333A"/>
          </a:solidFill>
          <a:ln w="13970">
            <a:solidFill>
              <a:srgbClr val="4C9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916168"/>
            <a:ext cx="99971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CF4F1"/>
                </a:solidFill>
                <a:latin typeface="Helvetica Neue"/>
              </a:rPr>
              <a:t>The recommendation engine does not change between these tiers. Only the unit of aggregation does — which is what makes the idea scale rather than merely grow.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Known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Stated plainly, because they define the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22716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0A458"/>
                </a:solidFill>
                <a:latin typeface="Helvetica Neue"/>
              </a:rPr>
              <a:t>1.  The fitness dataset is synthetic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Crop_recommendation.csv has clean, well-separated envelopes and carries no geography. That is why 99.5% accuracy is easy, and why the official cultivation prior exists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1956816"/>
            <a:ext cx="522716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0A458"/>
                </a:solidFill>
                <a:latin typeface="Helvetica Neue"/>
              </a:rPr>
              <a:t>2.  Apple is under-ranked for Himachal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The dataset places apple's temperature band at 21–24 °C, which ignores its ~1,000 hour winter chill requirement. A vernalisation feature is needed.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91256"/>
            <a:ext cx="522716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0A458"/>
                </a:solidFill>
                <a:latin typeface="Helvetica Neue"/>
              </a:rPr>
              <a:t>3.  State-level granularity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Nashik and Vidarbha are both simply “Maharashtra”. The district boundary file is already in the repository; only the profile data is missing.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007" y="3191256"/>
            <a:ext cx="522716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0A458"/>
                </a:solidFill>
                <a:latin typeface="Helvetica Neue"/>
              </a:rPr>
              <a:t>4.  Production data ends in 2015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The official series covers 1997–2015. Yields and cropping patterns have moved since; the newer release needs ingesting.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25696"/>
            <a:ext cx="522716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0A458"/>
                </a:solidFill>
                <a:latin typeface="Helvetica Neue"/>
              </a:rPr>
              <a:t>5.  Prices are national, not local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MSP is national by definition, but mandi prices vary by district and week. Agmarknet integration is the fix.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4425696"/>
            <a:ext cx="522716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0A458"/>
                </a:solidFill>
                <a:latin typeface="Helvetica Neue"/>
              </a:rPr>
              <a:t>6.  Wheat and sugarcane are absent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Two of India's largest crops are not among the 22 in the fitness dataset, though both appear in the production statistics.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234440"/>
          </a:xfrm>
          <a:prstGeom prst="roundRect">
            <a:avLst>
              <a:gd name="adj" fmla="val 4500"/>
            </a:avLst>
          </a:prstGeom>
          <a:solidFill>
            <a:srgbClr val="142E28"/>
          </a:solidFill>
          <a:ln w="13970">
            <a:solidFill>
              <a:srgbClr val="4C9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09344"/>
            <a:ext cx="99056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ECF4F1"/>
                </a:solidFill>
                <a:latin typeface="Helvetica Neue"/>
              </a:rPr>
              <a:t>A crop recommender that answers the question a farmer actually has 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CF94"/>
                </a:solidFill>
                <a:latin typeface="Helvetica Neue"/>
              </a:rPr>
              <a:t>not what can grow here, but what is worth growing, and why.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80360"/>
            <a:ext cx="1635709" cy="1143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3063240"/>
            <a:ext cx="1343101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6ECF94"/>
                </a:solidFill>
                <a:latin typeface="Helvetica Neue"/>
              </a:rPr>
              <a:t>246k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official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0109" y="2880360"/>
            <a:ext cx="1635709" cy="1143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6413" y="3063240"/>
            <a:ext cx="1343101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6ECF94"/>
                </a:solidFill>
                <a:latin typeface="Helvetica Neue"/>
              </a:rPr>
              <a:t>645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districts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2880360"/>
            <a:ext cx="1635709" cy="1143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5002" y="3063240"/>
            <a:ext cx="1343101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6ECF94"/>
                </a:solidFill>
                <a:latin typeface="Helvetica Neue"/>
              </a:rPr>
              <a:t>36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states &amp; 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2880360"/>
            <a:ext cx="1635709" cy="1143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3591" y="3063240"/>
            <a:ext cx="1343101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6ECF94"/>
                </a:solidFill>
                <a:latin typeface="Helvetica Neue"/>
              </a:rPr>
              <a:t>22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crops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5876" y="2880360"/>
            <a:ext cx="1635709" cy="1143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180" y="3063240"/>
            <a:ext cx="1343101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6ECF94"/>
                </a:solidFill>
                <a:latin typeface="Helvetica Neue"/>
              </a:rPr>
              <a:t>99.5%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CV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4465" y="2880360"/>
            <a:ext cx="1635709" cy="1143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70769" y="3063240"/>
            <a:ext cx="1343101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6ECF94"/>
                </a:solidFill>
                <a:latin typeface="Helvetica Neue"/>
              </a:rPr>
              <a:t>12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schemes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107286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6ECF94"/>
                </a:solidFill>
                <a:latin typeface="Helvetica Neue"/>
              </a:rPr>
              <a:t>github.com/RatnamOjha/krishi-mitra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ACA9"/>
                </a:solidFill>
                <a:latin typeface="Helvetica Neue"/>
              </a:rPr>
              <a:t>Model, ranking engine, REST API, React interface and scheme chatbot — working end to end and running fully offline for this demonstration.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KrishiMitra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