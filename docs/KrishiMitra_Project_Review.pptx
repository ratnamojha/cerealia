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200" b="1" i="0">
                <a:solidFill>
                  <a:srgbClr val="E8F1EE"/>
                </a:solidFill>
                <a:latin typeface="Helvetica Neue"/>
              </a:rPr>
              <a:t>KrishiMitra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500" b="0" i="0">
                <a:solidFill>
                  <a:srgbClr val="6ECF94"/>
                </a:solidFill>
                <a:latin typeface="Helvetica Neue"/>
              </a:rPr>
              <a:t>AI-Based Crop Recommendation for Indian Farmers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8FA8A5"/>
                </a:solidFill>
                <a:latin typeface="Helvetica Neue"/>
              </a:rPr>
              <a:t>Which crop should I plant — and what will it actually earn me?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4709160"/>
            <a:ext cx="201168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8FA8A5"/>
                </a:solidFill>
                <a:latin typeface="Helvetica Neue"/>
              </a:rPr>
              <a:t>Minor Project  ·  Progress Review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F7D7A"/>
                </a:solidFill>
                <a:latin typeface="Helvetica Neue"/>
              </a:rPr>
              <a:t>Interactive map of India  ·  36 states &amp; UTs  ·  22 crops  ·  grounded scheme advisory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The Problem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Crop choice is the single highest-leverage decision a farmer makes each season — and it is usually made blind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6ECF94"/>
                </a:solidFill>
                <a:latin typeface="Helvetica Neue"/>
              </a:rPr>
              <a:t>Decisions are made on habit, not data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FA8A5"/>
                </a:solidFill>
                <a:latin typeface="Helvetica Neue"/>
              </a:rPr>
              <a:t>Farmers largely repeat last year's crop or copy neighbours. Soil Health Cards exist but arrive as a 12-parameter lab report with no clear action attached.</a:t>
            </a:r>
          </a:p>
          <a:p>
            <a:pPr algn="l">
              <a:spcBef>
                <a:spcPts val="1500"/>
              </a:spcBef>
              <a:spcAft>
                <a:spcPts val="300"/>
              </a:spcAft>
            </a:pPr>
            <a:r>
              <a:rPr sz="1600" b="1" i="0">
                <a:solidFill>
                  <a:srgbClr val="6ECF94"/>
                </a:solidFill>
                <a:latin typeface="Helvetica Neue"/>
              </a:rPr>
              <a:t>The advice that exists answers the wrong question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FA8A5"/>
                </a:solidFill>
                <a:latin typeface="Helvetica Neue"/>
              </a:rPr>
              <a:t>Existing tools predict what CAN grow. A farmer already knows rice grows in his village. He needs to know what is worth growing this year.</a:t>
            </a:r>
          </a:p>
          <a:p>
            <a:pPr algn="l">
              <a:spcBef>
                <a:spcPts val="1500"/>
              </a:spcBef>
              <a:spcAft>
                <a:spcPts val="300"/>
              </a:spcAft>
            </a:pPr>
            <a:r>
              <a:rPr sz="1600" b="1" i="0">
                <a:solidFill>
                  <a:srgbClr val="6ECF94"/>
                </a:solidFill>
                <a:latin typeface="Helvetica Neue"/>
              </a:rPr>
              <a:t>Nobody prices the decision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FA8A5"/>
                </a:solidFill>
                <a:latin typeface="Helvetica Neue"/>
              </a:rPr>
              <a:t>Suitability says nothing about cost of cultivation, mandi price, irrigation burden or how long until the first harvest.</a:t>
            </a:r>
          </a:p>
          <a:p>
            <a:pPr algn="l">
              <a:spcBef>
                <a:spcPts val="1500"/>
              </a:spcBef>
              <a:spcAft>
                <a:spcPts val="300"/>
              </a:spcAft>
            </a:pPr>
            <a:r>
              <a:rPr sz="1600" b="1" i="0">
                <a:solidFill>
                  <a:srgbClr val="6ECF94"/>
                </a:solidFill>
                <a:latin typeface="Helvetica Neue"/>
              </a:rPr>
              <a:t>Support schemes go unclaimed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FA8A5"/>
                </a:solidFill>
                <a:latin typeface="Helvetica Neue"/>
              </a:rPr>
              <a:t>Central schemes cover insurance, credit, irrigation and solar pumps — but eligibility rules are buried in PDFs across a dozen portals.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Objective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Turn a crop classifier into an advisor a farmer could actually act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789920" cy="1143000"/>
          </a:xfrm>
          <a:prstGeom prst="roundRect">
            <a:avLst>
              <a:gd name="adj" fmla="val 5000"/>
            </a:avLst>
          </a:prstGeom>
          <a:solidFill>
            <a:srgbClr val="142E28"/>
          </a:solidFill>
          <a:ln w="15875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84831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F1EE"/>
                </a:solidFill>
                <a:latin typeface="Helvetica Neue"/>
              </a:rPr>
              <a:t>Given where a farmer is and what their soil looks like, rank the crops they could plant by what each is realistically worth — and explain why.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37560"/>
            <a:ext cx="2542032" cy="22860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2103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Pick a region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3D globe → map of India.
Click any state to load its
soil and climate profile.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337560"/>
            <a:ext cx="2542032" cy="22860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3566160"/>
            <a:ext cx="2103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Rank the crops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Not just suitability —
profit per hectare, water
need and risk, combined.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2542032" cy="22860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2103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Explain the answer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Show which conditions match,
which don't, and the fertiliser
needed to close the gap.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3337560"/>
            <a:ext cx="2542032" cy="22860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3566160"/>
            <a:ext cx="2103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Answer the follow-up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A grounded chatbot for the
government schemes that
apply to that decision.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Why a Classifier Alone Is Not Enough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The standard project stops at 99% accuracy. That number is misleading and the output is not advice.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5212080" cy="393192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 w="15875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6634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D1685C"/>
                </a:solidFill>
                <a:latin typeface="Helvetica Neue"/>
              </a:rPr>
              <a:t>The usual approach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FA8A5"/>
                </a:solidFill>
                <a:latin typeface="Helvetica Neue"/>
              </a:rPr>
              <a:t>×   7 features in → 1 crop name out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FA8A5"/>
                </a:solidFill>
                <a:latin typeface="Helvetica Neue"/>
              </a:rPr>
              <a:t>×   Trained on a synthetic dataset with clean,
well-separated class boundaries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FA8A5"/>
                </a:solidFill>
                <a:latin typeface="Helvetica Neue"/>
              </a:rPr>
              <a:t>×   99% accuracy is easy and means little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FA8A5"/>
                </a:solidFill>
                <a:latin typeface="Helvetica Neue"/>
              </a:rPr>
              <a:t>×   No geography: the model will suggest
mango for Ladakh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FA8A5"/>
                </a:solidFill>
                <a:latin typeface="Helvetica Neue"/>
              </a:rPr>
              <a:t>×   No economics: never asks what the crop
costs to grow or sells for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8FA8A5"/>
                </a:solidFill>
                <a:latin typeface="Helvetica Neue"/>
              </a:rPr>
              <a:t>×   No explanation the farmer can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20240"/>
            <a:ext cx="5212080" cy="393192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 w="15875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6634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6ECF94"/>
                </a:solidFill>
                <a:latin typeface="Helvetica Neue"/>
              </a:rPr>
              <a:t>This project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✓   The classifier is one signal out of four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✓   A regional cultivation prior supplies the
geography the dataset lacks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✓   Ranked on risk-adjusted expected return,
not headline profit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✓   Water demand checked against actual
rainfall — irrigation gap in mm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✓   Every recommendation shows the ideal
band for each condition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✓   Fertiliser gap costed in bags and rupees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10789920" cy="932688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221992"/>
            <a:ext cx="1234440" cy="384048"/>
          </a:xfrm>
          <a:prstGeom prst="roundRect">
            <a:avLst>
              <a:gd name="adj" fmla="val 30000"/>
            </a:avLst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418"/>
                </a:solidFill>
                <a:latin typeface="Helvetica Neue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12264"/>
            <a:ext cx="8869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E8F1EE"/>
                </a:solidFill>
                <a:latin typeface="Helvetica Neue"/>
              </a:rPr>
              <a:t>React + Vite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d3-geo canvas globe · India state map (85 KB, bundled offline) · recommendation panel · chat drawer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90088"/>
            <a:ext cx="10789920" cy="932688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246120"/>
            <a:ext cx="1234440" cy="384048"/>
          </a:xfrm>
          <a:prstGeom prst="roundRect">
            <a:avLst>
              <a:gd name="adj" fmla="val 30000"/>
            </a:avLst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418"/>
                </a:solidFill>
                <a:latin typeface="Helvetica Neue"/>
              </a:rP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136392"/>
            <a:ext cx="8869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E8F1EE"/>
                </a:solidFill>
                <a:latin typeface="Helvetica Neue"/>
              </a:rPr>
              <a:t>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/api/states · /api/overview · /api/recommend/state · /api/recommend/custom · /api/schemes · /api/chat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014216"/>
            <a:ext cx="10789920" cy="932688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270248"/>
            <a:ext cx="1234440" cy="384048"/>
          </a:xfrm>
          <a:prstGeom prst="roundRect">
            <a:avLst>
              <a:gd name="adj" fmla="val 30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418"/>
                </a:solidFill>
                <a:latin typeface="Helvetica Neue"/>
              </a:rPr>
              <a:t>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4160520"/>
            <a:ext cx="8869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E8F1EE"/>
                </a:solidFill>
                <a:latin typeface="Helvetica Neue"/>
              </a:rPr>
              <a:t>recommender.py + chatbot.py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4-signal ranking · percentile-envelope explainability · fertiliser planner · grounded scheme retrieval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38344"/>
            <a:ext cx="10789920" cy="932688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294376"/>
            <a:ext cx="1234440" cy="384048"/>
          </a:xfrm>
          <a:prstGeom prst="roundRect">
            <a:avLst>
              <a:gd name="adj" fmla="val 30000"/>
            </a:avLst>
          </a:prstGeom>
          <a:solidFill>
            <a:srgbClr val="8E6C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b="1">
                <a:solidFill>
                  <a:srgbClr val="0B1418"/>
                </a:solidFill>
                <a:latin typeface="Helvetica Neue"/>
              </a:rP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184648"/>
            <a:ext cx="8869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E8F1EE"/>
                </a:solidFill>
                <a:latin typeface="Helvetica Neue"/>
              </a:rPr>
              <a:t>Curated + trained artefacts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2,200-row training set · 36 state agro-climatic profiles · crop economics · cultivation prior · 12 schemes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The Ranking 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Four signals, weighted explicitly — so the policy is auditable rather than buried in 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789920" cy="9144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6ECF94"/>
                </a:solidFill>
                <a:latin typeface="Helvetica Neue"/>
              </a:rPr>
              <a:t>1. Agro-climatic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FA8A5"/>
                </a:solidFill>
                <a:latin typeface="Helvetica Neue"/>
              </a:rPr>
              <a:t>Can it survive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048256"/>
            <a:ext cx="6035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8F1EE"/>
                </a:solidFill>
                <a:latin typeface="Helvetica Neue"/>
              </a:rPr>
              <a:t>RandomForest probability blended with per-crop 10th–90th percentile envelopes. The forest is accurate but spiky; the envelope gives a smooth signal across all 22 crops.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0" y="2139696"/>
            <a:ext cx="1005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ECF94"/>
                </a:solidFill>
                <a:latin typeface="Helvetica Neue"/>
              </a:rPr>
              <a:t>45%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26080"/>
            <a:ext cx="10789920" cy="9144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35808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E0A458"/>
                </a:solidFill>
                <a:latin typeface="Helvetica Neue"/>
              </a:rPr>
              <a:t>2. Economics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FA8A5"/>
                </a:solidFill>
                <a:latin typeface="Helvetica Neue"/>
              </a:rPr>
              <a:t>What does it earn?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054096"/>
            <a:ext cx="6035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8F1EE"/>
                </a:solidFill>
                <a:latin typeface="Helvetica Neue"/>
              </a:rPr>
              <a:t>Yield × price − cost, annualised. Short crops scaled by cycles per year; perennials carry amortised establishment cost, so a 70-day moong is comparable to a 30-year mango orchard.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3145536"/>
            <a:ext cx="1005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0A458"/>
                </a:solidFill>
                <a:latin typeface="Helvetica Neue"/>
              </a:rPr>
              <a:t>30%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5B8AB0"/>
                </a:solidFill>
                <a:latin typeface="Helvetica Neue"/>
              </a:rPr>
              <a:t>3. Water feasibility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FA8A5"/>
                </a:solidFill>
                <a:latin typeface="Helvetica Neue"/>
              </a:rPr>
              <a:t>Can they irrigate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059936"/>
            <a:ext cx="6035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8F1EE"/>
                </a:solidFill>
                <a:latin typeface="Helvetica Neue"/>
              </a:rPr>
              <a:t>Crop water requirement vs 70% of local rainfall. Returns the irrigation gap in mm and a rainfed / light / moderate / heavy verdict.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4151376"/>
            <a:ext cx="1005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B8AB0"/>
                </a:solidFill>
                <a:latin typeface="Helvetica Neue"/>
              </a:rPr>
              <a:t>15%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37760"/>
            <a:ext cx="10789920" cy="9144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047488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D1685C"/>
                </a:solidFill>
                <a:latin typeface="Helvetica Neue"/>
              </a:rPr>
              <a:t>4. Risk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FA8A5"/>
                </a:solidFill>
                <a:latin typeface="Helvetica Neue"/>
              </a:rPr>
              <a:t>How exposed are they?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065776"/>
            <a:ext cx="6035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8F1EE"/>
                </a:solidFill>
                <a:latin typeface="Helvetica Neue"/>
              </a:rPr>
              <a:t>Price volatility, perishability, capital lock-in and years to first harvest.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5157216"/>
            <a:ext cx="1005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1685C"/>
                </a:solidFill>
                <a:latin typeface="Helvetica Neue"/>
              </a:rP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05332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FA8A5"/>
                </a:solidFill>
                <a:latin typeface="Helvetica Neue"/>
              </a:rPr>
              <a:t>Fitness also acts as a gate: a crop the region does not cultivate is removed outright, however profitable it looks.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Model &amp;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RandomForest · 300 trees · 2,200 samples · 22 crops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542032" cy="13716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84832"/>
            <a:ext cx="2267712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99.55%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Hold-out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42032" cy="13716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084832"/>
            <a:ext cx="2267712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99.50%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5-fold CV (± 0.27%)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0240"/>
            <a:ext cx="2542032" cy="13716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084832"/>
            <a:ext cx="2267712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E0A458"/>
                </a:solidFill>
                <a:latin typeface="Helvetica Neue"/>
              </a:rPr>
              <a:t>2 / 440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Misclassified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920240"/>
            <a:ext cx="2542032" cy="13716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2084832"/>
            <a:ext cx="2267712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0.22s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Training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20440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70332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8FA8A5"/>
                </a:solidFill>
                <a:latin typeface="Helvetica Neue"/>
              </a:rPr>
              <a:t>FEATURE IMPORTANCE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rainfall     </a:t>
            </a:r>
            <a:r>
              <a:rPr sz="1000">
                <a:solidFill>
                  <a:srgbClr val="6ECF94"/>
                </a:solidFill>
                <a:latin typeface="Menlo"/>
              </a:rPr>
              <a:t>███████████  0.222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humidity     </a:t>
            </a:r>
            <a:r>
              <a:rPr sz="1000">
                <a:solidFill>
                  <a:srgbClr val="6ECF94"/>
                </a:solidFill>
                <a:latin typeface="Menlo"/>
              </a:rPr>
              <a:t>███████████  0.212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K 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█████████  0.179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P 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███████  0.154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N 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█████  0.104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temperature  </a:t>
            </a:r>
            <a:r>
              <a:rPr sz="1000">
                <a:solidFill>
                  <a:srgbClr val="6ECF94"/>
                </a:solidFill>
                <a:latin typeface="Menlo"/>
              </a:rPr>
              <a:t>███  0.076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E8F1EE"/>
                </a:solidFill>
                <a:latin typeface="Menlo"/>
              </a:rPr>
              <a:t>ph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██  0.054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520440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 w="15875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70332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E0A458"/>
                </a:solidFill>
                <a:latin typeface="Helvetica Neue"/>
              </a:rPr>
              <a:t>WHY NO SMOTE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E8F1EE"/>
                </a:solidFill>
                <a:latin typeface="Helvetica Neue"/>
              </a:rPr>
              <a:t>The dataset is exactly balanced — 100 samples for every one of the 22 crops.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Resampling a balanced dataset injects synthetic noise without correcting any imbalance. train.py asserts the balance rather than assuming it.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ECF94"/>
                </a:solidFill>
                <a:latin typeface="Helvetica Neue"/>
              </a:rPr>
              <a:t>Knowing when not to apply a technique is part of the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The Interface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Globe → map of India → click a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257800" cy="3023235"/>
          </a:xfrm>
          <a:prstGeom prst="rect">
            <a:avLst/>
          </a:prstGeom>
        </p:spPr>
      </p:pic>
      <p:pic>
        <p:nvPicPr>
          <p:cNvPr id="7" name="Picture 6" descr="02-map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011680"/>
            <a:ext cx="5257800" cy="30232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44068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Rendered with d3-geo on canvas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No three.js, no CDN textures — the globe works with no network. Clicking animates rotation to India's centroid.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440680"/>
            <a:ext cx="5257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36 states, coloured by top crop type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Dissolved from a 760-district GeoJSON and simplified 4 MB → 85 KB, bundled locally so the map never fetches at runtime.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Recommendation Output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Maharashtra — click a state and the panel loads its ranked crops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maharash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949440" cy="3995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2011680"/>
            <a:ext cx="36118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Ranked crop list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Each card shows climate fit, water need and net profit per year, scaled to the farm size slider.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MSP badge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Flags crops with a guaranteed government floor price — lower price risk.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Honest confidence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Every card is labelled high / moderate / low so a weak match is never presented as certainty.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Gate transparency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The panel states how many crops were excluded as not cultivated in that region.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Explainability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A farmer will not act on a number they cannot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949440" cy="3995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2011680"/>
            <a:ext cx="36118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Condition vs ideal band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Every reading is compared against that crop's observed 10th–90th percentile range, with mismatches sorted to the top.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Full cost breakdown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Gross revenue, operating cost, amortised setup, and the risk-adjusted figure — not just a single number.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The NPK gap converted into kilograms of urea / DAP / MOP, 50 kg bags, and rupees.</a:t>
            </a: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Verifiable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An extension officer can check every line against the Soil Health Card.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Scheme Advisory Chatbot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Grounded on 12 central schemes — Grok (x.ai) with a local retrieval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949440" cy="3995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2011680"/>
            <a:ext cx="36118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Retrieval before generation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The question first retrieves matching schemes; only that verified text is sent to the model as context.</a:t>
            </a:r>
          </a:p>
          <a:p>
            <a:pPr algn="l">
              <a:spcBef>
                <a:spcPts val="13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Constrained on purpose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A hallucinated subsidy percentage costs a farmer real money, so the model summarises verified text instead of recalling from training.</a:t>
            </a:r>
          </a:p>
          <a:p>
            <a:pPr algn="l">
              <a:spcBef>
                <a:spcPts val="13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Degrades, never fails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With no API key the same retrieval renders a structured answer directly — the demo runs with no network.</a:t>
            </a:r>
          </a:p>
          <a:p>
            <a:pPr algn="l">
              <a:spcBef>
                <a:spcPts val="1300"/>
              </a:spcBef>
              <a:spcAft>
                <a:spcPts val="4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Context-aware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The selected state and top crop are passed in, so the farmer never restates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Does It Match Reality?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Recommendations reproduce real Indian cropping patterns — none of them hard-coded as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8FA8A5"/>
                </a:solidFill>
                <a:latin typeface="Menlo"/>
              </a:rPr>
              <a:t>STATE        </a:t>
            </a:r>
            <a:r>
              <a:rPr sz="950" b="1">
                <a:solidFill>
                  <a:srgbClr val="8FA8A5"/>
                </a:solidFill>
                <a:latin typeface="Menlo"/>
              </a:rPr>
              <a:t>TOP RECOMMENDATIONS    </a:t>
            </a:r>
            <a:r>
              <a:rPr sz="950" b="1">
                <a:solidFill>
                  <a:srgbClr val="8FA8A5"/>
                </a:solidFill>
                <a:latin typeface="Menlo"/>
              </a:rPr>
              <a:t>REALITY CHECK       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95728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F1EE"/>
                </a:solidFill>
                <a:latin typeface="Helvetica Neue"/>
              </a:rPr>
              <a:t>Assam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23744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CF94"/>
                </a:solidFill>
                <a:latin typeface="Helvetica Neue"/>
              </a:rPr>
              <a:t>Jute, 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532888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India's jute and paddy belt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3639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F1EE"/>
                </a:solidFill>
                <a:latin typeface="Helvetica Neue"/>
              </a:rPr>
              <a:t>West Bengal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145536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CF94"/>
                </a:solidFill>
                <a:latin typeface="Helvetica Neue"/>
              </a:rPr>
              <a:t>Jute, Rice, Banana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15468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Largest jute-producing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39312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5818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F1EE"/>
                </a:solidFill>
                <a:latin typeface="Helvetica Neue"/>
              </a:rPr>
              <a:t>Kerala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767328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CF94"/>
                </a:solidFill>
                <a:latin typeface="Helvetica Neue"/>
              </a:rPr>
              <a:t>Banana, Rice, Coconut, Coffee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77647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Matches the actual cropping pattern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261104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37997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F1EE"/>
                </a:solidFill>
                <a:latin typeface="Helvetica Neue"/>
              </a:rPr>
              <a:t>Maharashtra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38912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CF94"/>
                </a:solidFill>
                <a:latin typeface="Helvetica Neue"/>
              </a:rPr>
              <a:t>Mango, Tur, 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398264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Konkan mango, Vidarbha tur, Nagpur orange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882896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00176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F1EE"/>
                </a:solidFill>
                <a:latin typeface="Helvetica Neue"/>
              </a:rPr>
              <a:t>Rajasthan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01091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CF94"/>
                </a:solidFill>
                <a:latin typeface="Helvetica Neue"/>
              </a:rPr>
              <a:t>Moth beans, Watermelon, Chickpea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020056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Arid-zone crops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504688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235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F1EE"/>
                </a:solidFill>
                <a:latin typeface="Helvetica Neue"/>
              </a:rPr>
              <a:t>Himachal Pradesh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632704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ECF94"/>
                </a:solidFill>
                <a:latin typeface="Helvetica Neue"/>
              </a:rPr>
              <a:t>Maize, Orange, Rajma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5641848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Maize is HP's largest crop by area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It Also Surfaces Real Problems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The engine does not hide agronomic tension — it reports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10789920" cy="1920240"/>
          </a:xfrm>
          <a:prstGeom prst="roundRect">
            <a:avLst>
              <a:gd name="adj" fmla="val 5000"/>
            </a:avLst>
          </a:prstGeom>
          <a:solidFill>
            <a:srgbClr val="2A1C18"/>
          </a:solidFill>
          <a:ln w="15875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402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E0A458"/>
                </a:solidFill>
                <a:latin typeface="Helvetica Neue"/>
              </a:rPr>
              <a:t>Punjab paddy scores only 0.39 agro-climatic fitness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8F1EE"/>
                </a:solidFill>
                <a:latin typeface="Helvetica Neue"/>
              </a:rPr>
              <a:t>649 mm of annual rainfall cannot support rice. Punjab grows it anyway, through groundwater extraction — and the engine flags a 346 mm irrigation gap with a "check groundwater status" verdict. The state's documented water crisis appears directly in the model output.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5257800" cy="18288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4315968"/>
            <a:ext cx="4754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What a naive system would do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Rank on headline profit and recommend pomegranate for all 36 states — including Punjab, where it scores 0% suitability. This is not hypothetical: it is what our first implementation did, and it is reproducible by setting the profit weight to 0.9.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114800"/>
            <a:ext cx="5257800" cy="182880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4315968"/>
            <a:ext cx="4754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What fixed it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Rank on risk-adjusted expected return — profit weighted by agro-climatic fitness — and gate out crops the region does not cultivate. A crop paying ₹6 lakh/ha that half-fits the climate is not worth more than one paying ₹3 lakh that thrives.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Current Progress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Working end to end — backend, engine, interface and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6675120" cy="397763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 w="15875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62179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6ECF94"/>
                </a:solidFill>
                <a:latin typeface="Helvetica Neue"/>
              </a:rPr>
              <a:t>DONE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RandomForest trained, evaluated and versioned (99.50% CV)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Four-signal ranking engine with regional cultivation prior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Per-crop economics for all 22 crops (MSP, yield, cost, water, risk)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Agro-climatic profiles for all 36 states and UTs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Explainability layer + costed fertiliser planner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FastAPI service — 7 endpoints, CORS, validation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React frontend — globe, map, panel, chat drawer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Grounded scheme chatbot with offline fallback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Verified end to end in headless Chrome, zero console errors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E8F1EE"/>
                </a:solidFill>
                <a:latin typeface="Helvetica Neue"/>
              </a:rPr>
              <a:t>✓   Pushed to GitHub with full documentation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920240"/>
            <a:ext cx="3749039" cy="397763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2103120"/>
            <a:ext cx="3291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A458"/>
                </a:solidFill>
                <a:latin typeface="Helvetica Neue"/>
              </a:rPr>
              <a:t>NEXT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○   Grok API key wiring (fallback works today)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○   District-level resolution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○   Live weather and mandi price feeds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○   ESP32 soil sensor hardware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○   Hindi / regional language support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1488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6ECF94"/>
                </a:solidFill>
                <a:latin typeface="Helvetica Neue"/>
              </a:rPr>
              <a:t>SOFTWARE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Python 3.12 · FastAPI · Uvicorn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scikit-learn · pandas · NumPy · joblib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React 18 · Vite · d3-geo · topojson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httpx · python-pptx · shapely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1488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5B8AB0"/>
                </a:solidFill>
                <a:latin typeface="Helvetica Neue"/>
              </a:rPr>
              <a:t>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Crop_recommendation.csv (2,200 × 22)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IMD rainfall &amp; temperature normals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Soil Health Card NPK/pH aggregates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CACP MSP 2024-25 · Agmarknet prices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Agricultural Statistics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2336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42062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A458"/>
                </a:solidFill>
                <a:latin typeface="Helvetica Neue"/>
              </a:rPr>
              <a:t>EXTERNAL APIS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Grok / x.ai — scheme chatbot (free tier)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Open-Meteo — live weather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Agmarknet / data.gov.in — mandi prices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Bhashini — Indian languages (planned)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023360"/>
            <a:ext cx="5257800" cy="187451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2062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8E6CAE"/>
                </a:solidFill>
                <a:latin typeface="Helvetica Neue"/>
              </a:rPr>
              <a:t>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Laptop — runs entirely offline for the demo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ESP32 + RS485 7-in-1 NPK soil sensor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DHT22 temperature / humidity module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8FA8A5"/>
                </a:solidFill>
                <a:latin typeface="Helvetica Neue"/>
              </a:rPr>
              <a:t>·  Feeds live readings in place of state averages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Future Plans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Three horizons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3502152" cy="397763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176272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6ECF94"/>
                </a:solidFill>
                <a:latin typeface="Helvetica Neue"/>
              </a:rPr>
              <a:t>NEAR TERM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8F1EE"/>
                </a:solidFill>
                <a:latin typeface="Helvetica Neue"/>
              </a:rPr>
              <a:t>·  District-level resolution (Nashik ≠ Vidarbha)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8F1EE"/>
                </a:solidFill>
                <a:latin typeface="Helvetica Neue"/>
              </a:rPr>
              <a:t>·  Live weather via Open-Meteo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8F1EE"/>
                </a:solidFill>
                <a:latin typeface="Helvetica Neue"/>
              </a:rPr>
              <a:t>·  Live mandi prices via Agmarknet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8F1EE"/>
                </a:solidFill>
                <a:latin typeface="Helvetica Neue"/>
              </a:rPr>
              <a:t>·  SHAP explanations alongside the bands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8F1EE"/>
                </a:solidFill>
                <a:latin typeface="Helvetica Neue"/>
              </a:rPr>
              <a:t>·  Hindi + regional languages via Bhashini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8F1EE"/>
                </a:solidFill>
                <a:latin typeface="Helvetica Neue"/>
              </a:rPr>
              <a:t>·  Voice interface for low-literacy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65960"/>
            <a:ext cx="3502152" cy="397763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176272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E0A458"/>
                </a:solidFill>
                <a:latin typeface="Helvetica Neue"/>
              </a:rPr>
              <a:t>MEDIUM TERM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Crop rotation planning across seasons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Groundwater sustainability scoring (CGWB)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Mandi price forecasting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Leaf-disease detection from photos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ESP32 + NPK sensor for live soil readings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WhatsApp bot for non-smartphone farmers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965960"/>
            <a:ext cx="3502152" cy="3977639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176272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8E6CAE"/>
                </a:solidFill>
                <a:latin typeface="Helvetica Neue"/>
              </a:rPr>
              <a:t>LONGER TERM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Sentinel-2 NDVI crop health monitoring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Land allocation optimisation under budget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FPO and district-officer dashboards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Glut / shortage early warning from intent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Carbon credit and sustainability scoring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8FA8A5"/>
                </a:solidFill>
                <a:latin typeface="Helvetica Neue"/>
              </a:rPr>
              <a:t>·  Credit scoring for KCC pre-qualification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Known Limitations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FA8A5"/>
                </a:solidFill>
                <a:latin typeface="Helvetica Neue"/>
              </a:rPr>
              <a:t>Stated plainly, because they shape the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The training dataset is synthetic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8A5"/>
                </a:solidFill>
                <a:latin typeface="Helvetica Neue"/>
              </a:rPr>
              <a:t>Clean, well-separated feature envelopes are why 99.5% accuracy is easy. That figure should not be read as real-world performance — and the dataset carries no geography at all, which is exactly why the cultivation prior exists.</a:t>
            </a:r>
          </a:p>
          <a:p>
            <a:pPr algn="l">
              <a:spcBef>
                <a:spcPts val="1300"/>
              </a:spcBef>
              <a:spcAft>
                <a:spcPts val="3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Apple is under-ranked for Himachal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8A5"/>
                </a:solidFill>
                <a:latin typeface="Helvetica Neue"/>
              </a:rPr>
              <a:t>The dataset places apple's temperature band at 21–24 °C, which does not reflect real apple agronomy — apple needs roughly 1,000 winter chill hours. A vernalisation feature is needed.</a:t>
            </a:r>
          </a:p>
          <a:p>
            <a:pPr algn="l">
              <a:spcBef>
                <a:spcPts val="1300"/>
              </a:spcBef>
              <a:spcAft>
                <a:spcPts val="3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State-level granularity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8A5"/>
                </a:solidFill>
                <a:latin typeface="Helvetica Neue"/>
              </a:rPr>
              <a:t>Nashik and Vidarbha are both simply "Maharashtra" today.</a:t>
            </a:r>
          </a:p>
          <a:p>
            <a:pPr algn="l">
              <a:spcBef>
                <a:spcPts val="1300"/>
              </a:spcBef>
              <a:spcAft>
                <a:spcPts val="3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Annual averages, not seasonal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8A5"/>
                </a:solidFill>
                <a:latin typeface="Helvetica Neue"/>
              </a:rPr>
              <a:t>Crops grow in specific seasons; annual means blur kharif and rabi together.</a:t>
            </a:r>
          </a:p>
          <a:p>
            <a:pPr algn="l">
              <a:spcBef>
                <a:spcPts val="1300"/>
              </a:spcBef>
              <a:spcAft>
                <a:spcPts val="3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Wheat and sugarcane are absent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8A5"/>
                </a:solidFill>
                <a:latin typeface="Helvetica Neue"/>
              </a:rPr>
              <a:t>Two of India's largest crops are simply not among the 22 in the dataset.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6327648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4A605E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8F1EE"/>
                </a:solidFill>
                <a:latin typeface="Helvetica Neue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37160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789920" cy="1371600"/>
          </a:xfrm>
          <a:prstGeom prst="roundRect">
            <a:avLst>
              <a:gd name="adj" fmla="val 5000"/>
            </a:avLst>
          </a:prstGeom>
          <a:solidFill>
            <a:srgbClr val="142E28"/>
          </a:solidFill>
          <a:ln w="15875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E8F1EE"/>
                </a:solidFill>
                <a:latin typeface="Helvetica Neue"/>
              </a:rPr>
              <a:t>A crop recommender that answers the question a farmer actually has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6ECF94"/>
                </a:solidFill>
                <a:latin typeface="Helvetica Neue"/>
              </a:rPr>
              <a:t>not "what can grow here?" but "what is worth growing, and why?"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6616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30752"/>
            <a:ext cx="1737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36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states &amp; 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56616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3730752"/>
            <a:ext cx="1737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22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crops ranked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356616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3730752"/>
            <a:ext cx="1737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99.5%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CV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356616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730752"/>
            <a:ext cx="1737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schemes indexed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64040" y="3566160"/>
            <a:ext cx="2011680" cy="1234440"/>
          </a:xfrm>
          <a:prstGeom prst="roundRect">
            <a:avLst>
              <a:gd name="adj" fmla="val 50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730752"/>
            <a:ext cx="1737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6ECF94"/>
                </a:solidFill>
                <a:latin typeface="Helvetica Neue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FA8A5"/>
                </a:solidFill>
                <a:latin typeface="Helvetica Neue"/>
              </a:rPr>
              <a:t>ranking 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github.com/RatnamOjha/krishi-mitra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8A5"/>
                </a:solidFill>
                <a:latin typeface="Helvetica Neue"/>
              </a:rPr>
              <a:t>Backend, engine, frontend and chatbot working end to end · runs fully offline for the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